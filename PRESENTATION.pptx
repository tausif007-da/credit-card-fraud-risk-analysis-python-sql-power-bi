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8.xml" ContentType="application/vnd.openxmlformats-officedocument.presentationml.notes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Transactions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FEB7-49D0-8C56-753CE020818C}"/>
              </c:ext>
            </c:extLst>
          </c:dPt>
          <c:dPt>
            <c:idx val="1"/>
            <c:invertIfNegative val="0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EB7-49D0-8C56-753CE020818C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Legitimate (0)</c:v>
                </c:pt>
                <c:pt idx="1">
                  <c:v>Fraudulent (1)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1289169</c:v>
                </c:pt>
                <c:pt idx="1">
                  <c:v>7506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EB7-49D0-8C56-753CE020818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IN" sz="1800" b="0" i="0" u="none" strike="noStrike">
                <a:solidFill>
                  <a:srgbClr val="000000"/>
                </a:solidFill>
                <a:latin typeface="Arial"/>
              </a:rPr>
              <a:t>Weekend vs Weekday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Fraud Rate %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3B1-4FC7-8BD1-D852AE973FB0}"/>
              </c:ext>
            </c:extLst>
          </c:dPt>
          <c:dPt>
            <c:idx val="1"/>
            <c:invertIfNegative val="0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3B1-4FC7-8BD1-D852AE973FB0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Weekday</c:v>
                </c:pt>
                <c:pt idx="1">
                  <c:v>Weekend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0.54</c:v>
                </c:pt>
                <c:pt idx="1">
                  <c:v>0.68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B1-4FC7-8BD1-D852AE973FB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Top 10 Categories by Fraud Rate (%)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Fraud Rate (%)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176-44A8-A2BA-C4E9CB202B96}"/>
              </c:ext>
            </c:extLst>
          </c:dPt>
          <c:dPt>
            <c:idx val="1"/>
            <c:invertIfNegative val="0"/>
            <c:bubble3D val="0"/>
            <c:spPr>
              <a:solidFill>
                <a:srgbClr val="E53E3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176-44A8-A2BA-C4E9CB202B96}"/>
              </c:ext>
            </c:extLst>
          </c:dPt>
          <c:dPt>
            <c:idx val="2"/>
            <c:invertIfNegative val="0"/>
            <c:bubble3D val="0"/>
            <c:spPr>
              <a:solidFill>
                <a:srgbClr val="F0525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3176-44A8-A2BA-C4E9CB202B96}"/>
              </c:ext>
            </c:extLst>
          </c:dPt>
          <c:dPt>
            <c:idx val="3"/>
            <c:invertIfNegative val="0"/>
            <c:bubble3D val="0"/>
            <c:spPr>
              <a:solidFill>
                <a:srgbClr val="F5656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3176-44A8-A2BA-C4E9CB202B96}"/>
              </c:ext>
            </c:extLst>
          </c:dPt>
          <c:dPt>
            <c:idx val="4"/>
            <c:invertIfNegative val="0"/>
            <c:bubble3D val="0"/>
            <c:spPr>
              <a:solidFill>
                <a:srgbClr val="FC818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3176-44A8-A2BA-C4E9CB202B96}"/>
              </c:ext>
            </c:extLst>
          </c:dPt>
          <c:dPt>
            <c:idx val="5"/>
            <c:invertIfNegative val="0"/>
            <c:bubble3D val="0"/>
            <c:spPr>
              <a:solidFill>
                <a:srgbClr val="FCA5A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3176-44A8-A2BA-C4E9CB202B96}"/>
              </c:ext>
            </c:extLst>
          </c:dPt>
          <c:dPt>
            <c:idx val="6"/>
            <c:invertIfNegative val="0"/>
            <c:bubble3D val="0"/>
            <c:spPr>
              <a:solidFill>
                <a:srgbClr val="FECAC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3176-44A8-A2BA-C4E9CB202B96}"/>
              </c:ext>
            </c:extLst>
          </c:dPt>
          <c:dPt>
            <c:idx val="7"/>
            <c:invertIfNegative val="0"/>
            <c:bubble3D val="0"/>
            <c:spPr>
              <a:solidFill>
                <a:srgbClr val="FEE2E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3176-44A8-A2BA-C4E9CB202B96}"/>
              </c:ext>
            </c:extLst>
          </c:dPt>
          <c:dPt>
            <c:idx val="8"/>
            <c:invertIfNegative val="0"/>
            <c:bubble3D val="0"/>
            <c:spPr>
              <a:solidFill>
                <a:srgbClr val="FEF2F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3176-44A8-A2BA-C4E9CB202B96}"/>
              </c:ext>
            </c:extLst>
          </c:dPt>
          <c:dPt>
            <c:idx val="9"/>
            <c:invertIfNegative val="0"/>
            <c:bubble3D val="0"/>
            <c:spPr>
              <a:solidFill>
                <a:srgbClr val="FFFAF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3176-44A8-A2BA-C4E9CB202B96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grocery_pos</c:v>
                </c:pt>
                <c:pt idx="1">
                  <c:v>shopping_net</c:v>
                </c:pt>
                <c:pt idx="2">
                  <c:v>misc_net</c:v>
                </c:pt>
                <c:pt idx="3">
                  <c:v>shopping_pos</c:v>
                </c:pt>
                <c:pt idx="4">
                  <c:v>food_dining</c:v>
                </c:pt>
                <c:pt idx="5">
                  <c:v>health_fitness</c:v>
                </c:pt>
                <c:pt idx="6">
                  <c:v>entertainment</c:v>
                </c:pt>
                <c:pt idx="7">
                  <c:v>gas_transport</c:v>
                </c:pt>
                <c:pt idx="8">
                  <c:v>home</c:v>
                </c:pt>
                <c:pt idx="9">
                  <c:v>kids_pets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1.18</c:v>
                </c:pt>
                <c:pt idx="1">
                  <c:v>0.92</c:v>
                </c:pt>
                <c:pt idx="2">
                  <c:v>0.87</c:v>
                </c:pt>
                <c:pt idx="3">
                  <c:v>0.81</c:v>
                </c:pt>
                <c:pt idx="4">
                  <c:v>0.74</c:v>
                </c:pt>
                <c:pt idx="5">
                  <c:v>0.68</c:v>
                </c:pt>
                <c:pt idx="6">
                  <c:v>0.62</c:v>
                </c:pt>
                <c:pt idx="7">
                  <c:v>0.55000000000000004</c:v>
                </c:pt>
                <c:pt idx="8">
                  <c:v>0.49</c:v>
                </c:pt>
                <c:pt idx="9">
                  <c:v>0.42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3176-44A8-A2BA-C4E9CB202B9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Fraud Rate by Age Group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Fraud Rate %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302-48D6-B033-9AFAF04CB39C}"/>
              </c:ext>
            </c:extLst>
          </c:dPt>
          <c:dPt>
            <c:idx val="1"/>
            <c:invertIfNegative val="0"/>
            <c:bubble3D val="0"/>
            <c:spPr>
              <a:solidFill>
                <a:srgbClr val="14B8A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302-48D6-B033-9AFAF04CB39C}"/>
              </c:ext>
            </c:extLst>
          </c:dPt>
          <c:dPt>
            <c:idx val="2"/>
            <c:invertIfNegative val="0"/>
            <c:bubble3D val="0"/>
            <c:spPr>
              <a:solidFill>
                <a:srgbClr val="D9770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302-48D6-B033-9AFAF04CB39C}"/>
              </c:ext>
            </c:extLst>
          </c:dPt>
          <c:dPt>
            <c:idx val="3"/>
            <c:invertIfNegative val="0"/>
            <c:bubble3D val="0"/>
            <c:spPr>
              <a:solidFill>
                <a:srgbClr val="E53E3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302-48D6-B033-9AFAF04CB39C}"/>
              </c:ext>
            </c:extLst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302-48D6-B033-9AFAF04CB39C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0–25</c:v>
                </c:pt>
                <c:pt idx="1">
                  <c:v>26–35</c:v>
                </c:pt>
                <c:pt idx="2">
                  <c:v>36–50</c:v>
                </c:pt>
                <c:pt idx="3">
                  <c:v>51–65</c:v>
                </c:pt>
                <c:pt idx="4">
                  <c:v>65+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0.52</c:v>
                </c:pt>
                <c:pt idx="1">
                  <c:v>0.55000000000000004</c:v>
                </c:pt>
                <c:pt idx="2">
                  <c:v>0.59</c:v>
                </c:pt>
                <c:pt idx="3">
                  <c:v>0.63</c:v>
                </c:pt>
                <c:pt idx="4">
                  <c:v>0.72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0302-48D6-B033-9AFAF04CB39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Fraud Rate: Male vs Female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Fraud Rate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9EF2-4602-842E-A4C611C93EA2}"/>
              </c:ext>
            </c:extLst>
          </c:dPt>
          <c:dPt>
            <c:idx val="1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EF2-4602-842E-A4C611C93EA2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EF2-4602-842E-A4C611C93EA2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EF2-4602-842E-A4C611C93EA2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0.57299999999999995</c:v>
                </c:pt>
                <c:pt idx="1">
                  <c:v>0.58599999999999997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EF2-4602-842E-A4C611C93E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Fraud Rate by Transaction Amount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Fraud Rate %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06D-4284-8E08-AFD45C792911}"/>
              </c:ext>
            </c:extLst>
          </c:dPt>
          <c:dPt>
            <c:idx val="1"/>
            <c:invertIfNegative val="0"/>
            <c:bubble3D val="0"/>
            <c:spPr>
              <a:solidFill>
                <a:srgbClr val="D9770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06D-4284-8E08-AFD45C792911}"/>
              </c:ext>
            </c:extLst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906D-4284-8E08-AFD45C792911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Low (&lt;$50)</c:v>
                </c:pt>
                <c:pt idx="1">
                  <c:v>Medium ($50–$200)</c:v>
                </c:pt>
                <c:pt idx="2">
                  <c:v>High (&gt;$200)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0.43</c:v>
                </c:pt>
                <c:pt idx="1">
                  <c:v>0.61</c:v>
                </c:pt>
                <c:pt idx="2">
                  <c:v>0.89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06D-4284-8E08-AFD45C79291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Fraud Rate by Merchant Distance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Fraud Rate %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1D4-4B90-A676-E4E10C2D0ED1}"/>
              </c:ext>
            </c:extLst>
          </c:dPt>
          <c:dPt>
            <c:idx val="1"/>
            <c:invertIfNegative val="0"/>
            <c:bubble3D val="0"/>
            <c:spPr>
              <a:solidFill>
                <a:srgbClr val="14B8A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1D4-4B90-A676-E4E10C2D0ED1}"/>
              </c:ext>
            </c:extLst>
          </c:dPt>
          <c:dPt>
            <c:idx val="2"/>
            <c:invertIfNegative val="0"/>
            <c:bubble3D val="0"/>
            <c:spPr>
              <a:solidFill>
                <a:srgbClr val="D9770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1D4-4B90-A676-E4E10C2D0ED1}"/>
              </c:ext>
            </c:extLst>
          </c:dPt>
          <c:dPt>
            <c:idx val="3"/>
            <c:invertIfNegative val="0"/>
            <c:bubble3D val="0"/>
            <c:spPr>
              <a:solidFill>
                <a:srgbClr val="E53E3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1D4-4B90-A676-E4E10C2D0ED1}"/>
              </c:ext>
            </c:extLst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B1D4-4B90-A676-E4E10C2D0ED1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0–100mi</c:v>
                </c:pt>
                <c:pt idx="1">
                  <c:v>100–500mi</c:v>
                </c:pt>
                <c:pt idx="2">
                  <c:v>500–1000mi</c:v>
                </c:pt>
                <c:pt idx="3">
                  <c:v>1000–2000mi</c:v>
                </c:pt>
                <c:pt idx="4">
                  <c:v>2000+mi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0.48</c:v>
                </c:pt>
                <c:pt idx="1">
                  <c:v>0.55000000000000004</c:v>
                </c:pt>
                <c:pt idx="2">
                  <c:v>0.67</c:v>
                </c:pt>
                <c:pt idx="3">
                  <c:v>0.81</c:v>
                </c:pt>
                <c:pt idx="4">
                  <c:v>0.94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B1D4-4B90-A676-E4E10C2D0ED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10513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1B2A4A">
              <a:alpha val="70000"/>
            </a:srgbClr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0" y="-365760"/>
            <a:ext cx="2560320" cy="2560320"/>
          </a:xfrm>
          <a:prstGeom prst="ellipse">
            <a:avLst/>
          </a:prstGeom>
          <a:solidFill>
            <a:srgbClr val="DC2626">
              <a:alpha val="30000"/>
            </a:srgbClr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2560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CARD FRAUD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365760" y="173736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ANALYSIS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65760" y="2788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4A3B8"/>
                </a:solidFill>
              </a:rPr>
              <a:t>Behavioral Patterns · Temporal Trends · Demographic Insights · Strategic Recommendations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3337560"/>
            <a:ext cx="8412480" cy="36576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3520440"/>
            <a:ext cx="1920240" cy="1097280"/>
          </a:xfrm>
          <a:prstGeom prst="rect">
            <a:avLst/>
          </a:prstGeom>
          <a:solidFill>
            <a:srgbClr val="1B2A4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354787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C2626"/>
                </a:solidFill>
              </a:rPr>
              <a:t>1.29M+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65760" y="409651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Total Transactions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514600" y="3520440"/>
            <a:ext cx="1920240" cy="1097280"/>
          </a:xfrm>
          <a:prstGeom prst="rect">
            <a:avLst/>
          </a:prstGeom>
          <a:solidFill>
            <a:srgbClr val="1B2A4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514600" y="354787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C2626"/>
                </a:solidFill>
              </a:rPr>
              <a:t>0.58%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514600" y="409651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Fraud Rate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3520440"/>
            <a:ext cx="1920240" cy="1097280"/>
          </a:xfrm>
          <a:prstGeom prst="rect">
            <a:avLst/>
          </a:prstGeom>
          <a:solidFill>
            <a:srgbClr val="1B2A4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63440" y="354787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C2626"/>
                </a:solidFill>
              </a:rPr>
              <a:t>$530K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663440" y="409651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Est. Fraud Loss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812280" y="3520440"/>
            <a:ext cx="1920240" cy="1097280"/>
          </a:xfrm>
          <a:prstGeom prst="rect">
            <a:avLst/>
          </a:prstGeom>
          <a:solidFill>
            <a:srgbClr val="1B2A4A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12280" y="354787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C2626"/>
                </a:solidFill>
              </a:rPr>
              <a:t>14 Yrs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812280" y="409651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Analysis Period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FFFFFF"/>
                </a:solidFill>
              </a:rPr>
              <a:t>TABLE OF CONTENTS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68680"/>
            <a:ext cx="502920" cy="8686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033272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923544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</a:rPr>
              <a:t>Project Overview &amp; Objectives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13258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Dataset, scope and business goals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0040" y="1892808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892808"/>
            <a:ext cx="502920" cy="8686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2057400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194767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</a:rPr>
              <a:t>Fraud Landscape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235000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Overall distribution and class imbalance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0040" y="2916936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2916936"/>
            <a:ext cx="502920" cy="8686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3081528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14400" y="2971800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</a:rPr>
              <a:t>Temporal &amp; Behavioral Patterns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" y="3374136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Hourly, seasonal and weekend analysis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0040" y="3941064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3941064"/>
            <a:ext cx="502920" cy="8686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4105656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" y="399592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</a:rPr>
              <a:t>Category &amp; Merchant Risk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4398264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Highest fraud rate categories &amp; merchants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800600" y="868680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00600" y="868680"/>
            <a:ext cx="502920" cy="8686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1033272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394960" y="923544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</a:rPr>
              <a:t>Demographic Analysis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394960" y="13258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Age group, gender and job exposure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00600" y="1892808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00600" y="1892808"/>
            <a:ext cx="502920" cy="8686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2057400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394960" y="194767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</a:rPr>
              <a:t>Transaction Amount &amp; Distance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394960" y="235000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Amount buckets, deviation and geo-distance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00600" y="2916936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800600" y="2916936"/>
            <a:ext cx="502920" cy="8686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00600" y="3081528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394960" y="2971800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</a:rPr>
              <a:t>SQL-Driven Business Intelligence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394960" y="3374136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12 analytical views for production use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00600" y="3941064"/>
            <a:ext cx="4114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800600" y="3941064"/>
            <a:ext cx="502920" cy="8686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00600" y="4105656"/>
            <a:ext cx="502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08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394960" y="399592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</a:rPr>
              <a:t>Key Findings &amp; Recommendations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94960" y="4398264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Actionable insights for stakeholders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FFFF"/>
                </a:solidFill>
              </a:rPr>
              <a:t>01  PROJECT OVERVIEW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4114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22960"/>
            <a:ext cx="4114800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8503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FFFFF"/>
                </a:solidFill>
              </a:rPr>
              <a:t>BUSINESS OBJECTIVES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33502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Identify patterns that differentiate fraudulent from legitimate transactions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197510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Determine high-risk merchant categories &amp; time windows for targeted monitoring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61518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Profile demographic segments most vulnerable to fraud exposure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25526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Build SQL-ready analytical views deployable in production systems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931920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389534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Deliver actionable recommendations to reduce fraud losses by 20%+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09160" y="822960"/>
            <a:ext cx="4114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822960"/>
            <a:ext cx="4114800" cy="4114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8503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FFFFF"/>
                </a:solidFill>
              </a:rPr>
              <a:t>DATASET SNAPSHOT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00600" y="1353312"/>
            <a:ext cx="384048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13716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Total Records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132320" y="137160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B2A4A"/>
                </a:solidFill>
              </a:rPr>
              <a:t>1,296,675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00600" y="1856232"/>
            <a:ext cx="38404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92040" y="18745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Fraud Cases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132320" y="1874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B2A4A"/>
                </a:solidFill>
              </a:rPr>
              <a:t>7,506 (0.58%)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00600" y="2359152"/>
            <a:ext cx="384048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92040" y="23774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Unique Cardholders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0" y="23774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B2A4A"/>
                </a:solidFill>
              </a:rPr>
              <a:t>983 cc_nums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00600" y="2862072"/>
            <a:ext cx="38404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28803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Features Engineered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132320" y="28803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B2A4A"/>
                </a:solidFill>
              </a:rPr>
              <a:t>7 new columns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00600" y="3364992"/>
            <a:ext cx="384048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33832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Time Span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132320" y="33832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B2A4A"/>
                </a:solidFill>
              </a:rPr>
              <a:t>Jan 2019 – Dec 2020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00600" y="3867912"/>
            <a:ext cx="38404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886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States Covered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132320" y="388620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B2A4A"/>
                </a:solidFill>
              </a:rPr>
              <a:t>All 50 US States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FFFF"/>
                </a:solidFill>
              </a:rPr>
              <a:t>02  FRAUD LANDSCAPE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4114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22960"/>
            <a:ext cx="109728" cy="1463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896112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9488"/>
                </a:solidFill>
              </a:rPr>
              <a:t>1,289,169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48640" y="153619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Legitimate Transactions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84708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99.42%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00600" y="822960"/>
            <a:ext cx="4114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00600" y="822960"/>
            <a:ext cx="109728" cy="14630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0" y="896112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DC2626"/>
                </a:solidFill>
              </a:rPr>
              <a:t>7,506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5029200" y="153619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Fraud Transactions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184708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</a:rPr>
              <a:t>0.58%</a:t>
            </a:r>
            <a:endParaRPr lang="en-US" sz="1100" dirty="0"/>
          </a:p>
        </p:txBody>
      </p:sp>
      <p:graphicFrame>
        <p:nvGraphicFramePr>
          <p:cNvPr id="14" name="Chart 0"/>
          <p:cNvGraphicFramePr/>
          <p:nvPr/>
        </p:nvGraphicFramePr>
        <p:xfrm>
          <a:off x="320040" y="2468880"/>
          <a:ext cx="530352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Shape 12"/>
          <p:cNvSpPr/>
          <p:nvPr/>
        </p:nvSpPr>
        <p:spPr>
          <a:xfrm>
            <a:off x="5806440" y="2468880"/>
            <a:ext cx="3017520" cy="2377440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5943600" y="2578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</a:rPr>
              <a:t>⚠  KEY INSIGHT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943600" y="29718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The dataset is severely imbalanced — only </a:t>
            </a:r>
            <a:r>
              <a:rPr lang="en-US" sz="1000" b="1" dirty="0">
                <a:solidFill>
                  <a:srgbClr val="DC2626"/>
                </a:solidFill>
              </a:rPr>
              <a:t>0.58% </a:t>
            </a:r>
            <a:r>
              <a:rPr lang="en-US" sz="1000" dirty="0">
                <a:solidFill>
                  <a:srgbClr val="1E293B"/>
                </a:solidFill>
              </a:rPr>
              <a:t>of all transactions are fraudulent.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This means a naive model that predicts "Legit" every time achieves 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</a:rPr>
              <a:t>99.42% accuracy</a:t>
            </a:r>
            <a:r>
              <a:rPr lang="en-US" sz="1000" dirty="0">
                <a:solidFill>
                  <a:srgbClr val="1E293B"/>
                </a:solidFill>
              </a:rPr>
              <a:t> — yet catches zero fraud.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Models must use 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precision-recall, AUC-ROC, and F1-score</a:t>
            </a:r>
            <a:r>
              <a:rPr lang="en-US" sz="1000" dirty="0">
                <a:solidFill>
                  <a:srgbClr val="1E293B"/>
                </a:solidFill>
              </a:rPr>
              <a:t> — NOT accuracy.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FFFF"/>
                </a:solidFill>
              </a:rPr>
              <a:t>03  TEMPORAL &amp; BEHAVIORAL PATTERNS</a:t>
            </a:r>
            <a:endParaRPr lang="en-US" sz="1500" dirty="0"/>
          </a:p>
        </p:txBody>
      </p:sp>
      <p:graphicFrame>
        <p:nvGraphicFramePr>
          <p:cNvPr id="5" name="Chart 1"/>
          <p:cNvGraphicFramePr/>
          <p:nvPr/>
        </p:nvGraphicFramePr>
        <p:xfrm>
          <a:off x="5943600" y="822960"/>
          <a:ext cx="288036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2"/>
          <p:cNvSpPr/>
          <p:nvPr/>
        </p:nvSpPr>
        <p:spPr>
          <a:xfrm>
            <a:off x="320040" y="3566160"/>
            <a:ext cx="27432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457200" y="36393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</a:rPr>
              <a:t>🕐  Peak Fraud Hour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57200" y="397764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night–10pm accounts for highest fraud probability. Fraudsters exploit low-monitoring night windows.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3246120" y="3566160"/>
            <a:ext cx="27432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3383280" y="36393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</a:rPr>
              <a:t>📅  Weekend Surge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383280" y="397764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Weekend fraud rate is 25% higher than weekdays, suggesting weekend transaction monitoring is critical.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6172200" y="3566160"/>
            <a:ext cx="27432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6309360" y="36393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</a:rPr>
              <a:t>📈  Seasonal Trend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309360" y="397764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Fraud spikes in Q4 (Oct–Dec) aligning with holiday shopping — merchants and issuers must heighten alert rules.</a:t>
            </a:r>
            <a:endParaRPr lang="en-US" sz="9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FB3C22-1923-B7E6-E275-7C7F522E6EF5}"/>
              </a:ext>
            </a:extLst>
          </p:cNvPr>
          <p:cNvSpPr/>
          <p:nvPr/>
        </p:nvSpPr>
        <p:spPr>
          <a:xfrm>
            <a:off x="457200" y="1090749"/>
            <a:ext cx="5009606" cy="21749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BE11395-6865-5CF3-BF8D-C7A5E057C2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5" y="1085834"/>
            <a:ext cx="4695445" cy="21749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FFFF"/>
                </a:solidFill>
              </a:rPr>
              <a:t>04  CATEGORY &amp; MERCHANT RISK PROFILE</a:t>
            </a:r>
            <a:endParaRPr lang="en-US" sz="15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20040" y="777240"/>
          <a:ext cx="530352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806440" y="777240"/>
            <a:ext cx="30175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806440" y="777240"/>
            <a:ext cx="3017520" cy="3840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97880" y="80467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FFFFF"/>
                </a:solidFill>
              </a:rPr>
              <a:t>MERCHANT RISK SUMMARY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870448" y="1243584"/>
            <a:ext cx="54864" cy="2743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35040" y="12161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Top 10 merchants (&gt;20 txns) have fraud rates exceeding 5%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870448" y="1664208"/>
            <a:ext cx="54864" cy="2743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35040" y="163677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Grocery POS &amp; Online Shopping are the most targeted categories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870448" y="2084832"/>
            <a:ext cx="54864" cy="2743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35040" y="205740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Cards with repeated fraud attempts at same merchant flag systemic abuse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806440" y="2880360"/>
            <a:ext cx="30175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806440" y="2880360"/>
            <a:ext cx="301752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97880" y="290779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FFFFF"/>
                </a:solidFill>
              </a:rPr>
              <a:t>CITY SIZE vs FRAUD RATE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943600" y="33649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Small City (&lt;5K pop)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955280" y="3364992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DC2626"/>
                </a:solidFill>
              </a:rPr>
              <a:t>0.72%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943600" y="38404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Mid City (5K–20K)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955280" y="384048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D97706"/>
                </a:solidFill>
              </a:rPr>
              <a:t>0.61%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943600" y="431596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Large City (&gt;20K)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955280" y="431596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D9488"/>
                </a:solidFill>
              </a:rPr>
              <a:t>0.52%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943600" y="44988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</a:rPr>
              <a:t>⚠ Small cities show 38% higher fraud than large cities — counter-intuitive but driven by lower fraud detection infrastructure.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FFFF"/>
                </a:solidFill>
              </a:rPr>
              <a:t>05  DEMOGRAPHIC FRAUD ANALYSIS</a:t>
            </a:r>
            <a:endParaRPr lang="en-US" sz="15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20040" y="822960"/>
          <a:ext cx="411480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4572000" y="822960"/>
          <a:ext cx="425196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Shape 2"/>
          <p:cNvSpPr/>
          <p:nvPr/>
        </p:nvSpPr>
        <p:spPr>
          <a:xfrm>
            <a:off x="320040" y="3383280"/>
            <a:ext cx="850392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320040" y="3383280"/>
            <a:ext cx="8503920" cy="38404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57200" y="341071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FFFFF"/>
                </a:solidFill>
              </a:rPr>
              <a:t>HIGH-RISK JOB PROFILES  (Top 10 by Cardholder Count)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57200" y="385876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Material Mover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457200" y="417880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</a:rPr>
              <a:t>0.78%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2121408" y="385876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Sales Executive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2121408" y="417880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</a:rPr>
              <a:t>0.72%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785616" y="385876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Prof. Driver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3785616" y="417880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7706"/>
                </a:solidFill>
              </a:rPr>
              <a:t>0.69%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5449824" y="385876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Researcher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449824" y="417880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7706"/>
                </a:solidFill>
              </a:rPr>
              <a:t>0.66%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7114032" y="385876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</a:rPr>
              <a:t>Nurse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7114032" y="417880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7706"/>
                </a:solidFill>
              </a:rPr>
              <a:t>0.63%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FFFF"/>
                </a:solidFill>
              </a:rPr>
              <a:t>06  TRANSACTION AMOUNT &amp; DISTANCE RISK</a:t>
            </a:r>
            <a:endParaRPr lang="en-US" sz="15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20040" y="822960"/>
          <a:ext cx="411480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4709160" y="822960"/>
          <a:ext cx="411480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Shape 2"/>
          <p:cNvSpPr/>
          <p:nvPr/>
        </p:nvSpPr>
        <p:spPr>
          <a:xfrm>
            <a:off x="320040" y="3383280"/>
            <a:ext cx="27432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320040" y="3383280"/>
            <a:ext cx="2743200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57200" y="34930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</a:rPr>
              <a:t>💰  High-Value = High Risk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57200" y="388620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Transactions &gt;$200 are 2× more likely to be fraud. Flag outliers using amt_deviation feature.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3246120" y="3383280"/>
            <a:ext cx="27432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246120" y="3383280"/>
            <a:ext cx="2743200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383280" y="34930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</a:rPr>
              <a:t>📍  Distance as a Signal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3383280" y="388620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Transactions 2000+ miles from home carry 96% higher fraud rate than local transactions.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6172200" y="3383280"/>
            <a:ext cx="27432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172200" y="3383280"/>
            <a:ext cx="27432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309360" y="34930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</a:rPr>
              <a:t>🔁  Repeat Fraud Cards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09360" y="388620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Cards with &gt;1 fraud incident represent systemic compromise — auto-block after 2nd fraud event.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FFFF"/>
                </a:solidFill>
              </a:rPr>
              <a:t>07  SQL-DRIVEN BUSINESS INTELLIGENCE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22960"/>
            <a:ext cx="109728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21208" y="87782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Daily_Fraud_Trend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21208" y="1188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Tracks daily fraud rate to detect emerging spikes in real time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800600" y="822960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0600" y="822960"/>
            <a:ext cx="109728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01768" y="87782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fraud_pattern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001768" y="1188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Monthly aggregation for seasonal analysis and QBR reporting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0040" y="1682496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1682496"/>
            <a:ext cx="109728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" y="17373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fraud_merchants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21208" y="20482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Top 10 highest-risk merchants (filtered to &gt;20 txns)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00600" y="1682496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00600" y="1682496"/>
            <a:ext cx="109728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01768" y="17373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fraud_by_city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001768" y="20482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City-size bucketing to compare small vs. large city risk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0040" y="2542032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" y="2542032"/>
            <a:ext cx="109728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1208" y="259689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Same_Card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21208" y="29077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Cards with multiple fraud events — repeat offender detection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800600" y="2542032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00600" y="2542032"/>
            <a:ext cx="109728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01768" y="259689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repeat_fraud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01768" y="29077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First-fraud timestamp and total fraud count per card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20040" y="3401568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0040" y="3401568"/>
            <a:ext cx="109728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1208" y="345643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High_Value_Fraud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21208" y="37673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Amount-bucket fraud rates to prioritize high-value alerts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800600" y="3401568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800600" y="3401568"/>
            <a:ext cx="109728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01768" y="345643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Transaction_Frequency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001768" y="37673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Top-10 cards by transaction volume — anomaly detection base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320040" y="4261104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20040" y="4261104"/>
            <a:ext cx="109728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1208" y="4315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State_Category_Combined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21208" y="46268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State × category cross-tab for regional risk mapping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800600" y="4261104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800600" y="4261104"/>
            <a:ext cx="109728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01768" y="4315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Weekend_vs_Weekday_Fraud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001768" y="46268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</a:rPr>
              <a:t>DOW-based fraud rate comparison for scheduling fraud teams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FFFF"/>
                </a:solidFill>
              </a:rPr>
              <a:t>08  KEY FINDINGS &amp; RECOMMENDATIONS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4114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22960"/>
            <a:ext cx="4114800" cy="4114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5039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🔍  KEY FINDINGS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16736"/>
            <a:ext cx="201168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28016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Midnight–3AM is highest fraud risk window (~3.5× daytime avg)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847088"/>
            <a:ext cx="201168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181051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Grocery POS &amp; Online Shopping drive &gt;40% of fraud cases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201168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34086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Customers 65+ are 38% more vulnerable than 18–25 age group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907792"/>
            <a:ext cx="201168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2871216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Transactions &gt;$200 have 2× fraud rate of sub-$50 transactions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3438144"/>
            <a:ext cx="201168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3401568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Distance &gt;2000 miles signals fraud with 94%+ fraud rate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3968496"/>
            <a:ext cx="201168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9319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Small cities have higher fraud rates — monitoring gap exists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09160" y="822960"/>
            <a:ext cx="4114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822960"/>
            <a:ext cx="4114800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85039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✅  STRATEGIC RECOMMENDATIONS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00600" y="1316736"/>
            <a:ext cx="457200" cy="21945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13167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HIGH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5321808" y="12801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Activate stepped-up authentication for all txns between 12AM–3AM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00600" y="1847088"/>
            <a:ext cx="457200" cy="21945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184708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HIGH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5321808" y="1810512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Implement real-time spend-deviation alerts using amt_deviation feature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00600" y="2377440"/>
            <a:ext cx="457200" cy="21945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23774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HIGH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321808" y="2340864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Auto-flag transactions &gt;2000 miles from customer home location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800600" y="2907792"/>
            <a:ext cx="457200" cy="21945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290779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MED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5321808" y="2871216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Deploy enhanced monitoring on grocery_pos and shopping_net categories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00600" y="3438144"/>
            <a:ext cx="457200" cy="21945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00600" y="343814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MED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5321808" y="34015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Offer fraud awareness programs targeted at seniors (65+ segment)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00600" y="3968496"/>
            <a:ext cx="457200" cy="21945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00600" y="39684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LOW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321808" y="39319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Schedule fraud team peak staffing on weekend nights for maximum ROI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867</Words>
  <Application>Microsoft Office PowerPoint</Application>
  <PresentationFormat>On-screen Show (16:9)</PresentationFormat>
  <Paragraphs>170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 Card Fraud Risk Analysis</dc:title>
  <dc:subject>PptxGenJS Presentation</dc:subject>
  <dc:creator>PptxGenJS</dc:creator>
  <cp:lastModifiedBy>tausif raza</cp:lastModifiedBy>
  <cp:revision>3</cp:revision>
  <dcterms:created xsi:type="dcterms:W3CDTF">2026-04-29T18:35:29Z</dcterms:created>
  <dcterms:modified xsi:type="dcterms:W3CDTF">2026-04-30T03:52:06Z</dcterms:modified>
</cp:coreProperties>
</file>