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B7-49D0-8C56-753CE020818C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B7-49D0-8C56-753CE02081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Legitimate (0)</c:v>
                </c:pt>
                <c:pt idx="1">
                  <c:v>Fraudulent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1289169</c:v>
                </c:pt>
                <c:pt idx="1">
                  <c:v>7506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B7-49D0-8C56-753CE0208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Hourly Fraud Rate (0–23h)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1.0999999999999999E-2</c:v>
                </c:pt>
                <c:pt idx="1">
                  <c:v>1.2999999999999999E-2</c:v>
                </c:pt>
                <c:pt idx="2">
                  <c:v>1.6E-2</c:v>
                </c:pt>
                <c:pt idx="3">
                  <c:v>2.1000000000000001E-2</c:v>
                </c:pt>
                <c:pt idx="4">
                  <c:v>1.7999999999999999E-2</c:v>
                </c:pt>
                <c:pt idx="5">
                  <c:v>1.2E-2</c:v>
                </c:pt>
                <c:pt idx="6">
                  <c:v>7.0000000000000001E-3</c:v>
                </c:pt>
                <c:pt idx="7">
                  <c:v>5.0000000000000001E-3</c:v>
                </c:pt>
                <c:pt idx="8">
                  <c:v>4.0000000000000001E-3</c:v>
                </c:pt>
                <c:pt idx="9">
                  <c:v>4.0000000000000001E-3</c:v>
                </c:pt>
                <c:pt idx="10">
                  <c:v>4.0000000000000001E-3</c:v>
                </c:pt>
                <c:pt idx="11">
                  <c:v>5.0000000000000001E-3</c:v>
                </c:pt>
                <c:pt idx="12">
                  <c:v>6.0000000000000001E-3</c:v>
                </c:pt>
                <c:pt idx="13">
                  <c:v>5.0000000000000001E-3</c:v>
                </c:pt>
                <c:pt idx="14">
                  <c:v>5.0000000000000001E-3</c:v>
                </c:pt>
                <c:pt idx="15">
                  <c:v>5.0000000000000001E-3</c:v>
                </c:pt>
                <c:pt idx="16">
                  <c:v>6.0000000000000001E-3</c:v>
                </c:pt>
                <c:pt idx="17">
                  <c:v>6.0000000000000001E-3</c:v>
                </c:pt>
                <c:pt idx="18">
                  <c:v>7.0000000000000001E-3</c:v>
                </c:pt>
                <c:pt idx="19">
                  <c:v>8.0000000000000002E-3</c:v>
                </c:pt>
                <c:pt idx="20">
                  <c:v>8.9999999999999993E-3</c:v>
                </c:pt>
                <c:pt idx="21">
                  <c:v>0.01</c:v>
                </c:pt>
                <c:pt idx="22">
                  <c:v>1.0999999999999999E-2</c:v>
                </c:pt>
                <c:pt idx="23">
                  <c:v>1.2E-2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F58-46B2-BB27-A6A616B73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Weekend vs Weekday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B1-4FC7-8BD1-D852AE973FB0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B1-4FC7-8BD1-D852AE973F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0.54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B1-4FC7-8BD1-D852AE973F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10 Categories by Fraud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76-44A8-A2BA-C4E9CB202B96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76-44A8-A2BA-C4E9CB202B96}"/>
              </c:ext>
            </c:extLst>
          </c:dPt>
          <c:dPt>
            <c:idx val="2"/>
            <c:invertIfNegative val="0"/>
            <c:bubble3D val="0"/>
            <c:spPr>
              <a:solidFill>
                <a:srgbClr val="F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76-44A8-A2BA-C4E9CB202B96}"/>
              </c:ext>
            </c:extLst>
          </c:dPt>
          <c:dPt>
            <c:idx val="3"/>
            <c:invertIfNegative val="0"/>
            <c:bubble3D val="0"/>
            <c:spPr>
              <a:solidFill>
                <a:srgbClr val="F565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76-44A8-A2BA-C4E9CB202B96}"/>
              </c:ext>
            </c:extLst>
          </c:dPt>
          <c:dPt>
            <c:idx val="4"/>
            <c:invertIfNegative val="0"/>
            <c:bubble3D val="0"/>
            <c:spPr>
              <a:solidFill>
                <a:srgbClr val="FC81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76-44A8-A2BA-C4E9CB202B96}"/>
              </c:ext>
            </c:extLst>
          </c:dPt>
          <c:dPt>
            <c:idx val="5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76-44A8-A2BA-C4E9CB202B96}"/>
              </c:ext>
            </c:extLst>
          </c:dPt>
          <c:dPt>
            <c:idx val="6"/>
            <c:invertIfNegative val="0"/>
            <c:bubble3D val="0"/>
            <c:spPr>
              <a:solidFill>
                <a:srgbClr val="FECA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176-44A8-A2BA-C4E9CB202B96}"/>
              </c:ext>
            </c:extLst>
          </c:dPt>
          <c:dPt>
            <c:idx val="7"/>
            <c:invertIfNegative val="0"/>
            <c:bubble3D val="0"/>
            <c:spPr>
              <a:solidFill>
                <a:srgbClr val="FEE2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176-44A8-A2BA-C4E9CB202B96}"/>
              </c:ext>
            </c:extLst>
          </c:dPt>
          <c:dPt>
            <c:idx val="8"/>
            <c:invertIfNegative val="0"/>
            <c:bubble3D val="0"/>
            <c:spPr>
              <a:solidFill>
                <a:srgbClr val="FEF2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176-44A8-A2BA-C4E9CB202B96}"/>
              </c:ext>
            </c:extLst>
          </c:dPt>
          <c:dPt>
            <c:idx val="9"/>
            <c:invertIfNegative val="0"/>
            <c:bubble3D val="0"/>
            <c:spPr>
              <a:solidFill>
                <a:srgbClr val="FFFA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176-44A8-A2BA-C4E9CB202B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grocery_pos</c:v>
                </c:pt>
                <c:pt idx="1">
                  <c:v>shopping_net</c:v>
                </c:pt>
                <c:pt idx="2">
                  <c:v>misc_net</c:v>
                </c:pt>
                <c:pt idx="3">
                  <c:v>shopping_pos</c:v>
                </c:pt>
                <c:pt idx="4">
                  <c:v>food_dining</c:v>
                </c:pt>
                <c:pt idx="5">
                  <c:v>health_fitness</c:v>
                </c:pt>
                <c:pt idx="6">
                  <c:v>entertainment</c:v>
                </c:pt>
                <c:pt idx="7">
                  <c:v>gas_transport</c:v>
                </c:pt>
                <c:pt idx="8">
                  <c:v>home</c:v>
                </c:pt>
                <c:pt idx="9">
                  <c:v>kids_pets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1.18</c:v>
                </c:pt>
                <c:pt idx="1">
                  <c:v>0.92</c:v>
                </c:pt>
                <c:pt idx="2">
                  <c:v>0.87</c:v>
                </c:pt>
                <c:pt idx="3">
                  <c:v>0.81</c:v>
                </c:pt>
                <c:pt idx="4">
                  <c:v>0.74</c:v>
                </c:pt>
                <c:pt idx="5">
                  <c:v>0.68</c:v>
                </c:pt>
                <c:pt idx="6">
                  <c:v>0.62</c:v>
                </c:pt>
                <c:pt idx="7">
                  <c:v>0.55000000000000004</c:v>
                </c:pt>
                <c:pt idx="8">
                  <c:v>0.49</c:v>
                </c:pt>
                <c:pt idx="9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176-44A8-A2BA-C4E9CB202B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Fraud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02-48D6-B033-9AFAF04CB39C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02-48D6-B033-9AFAF04CB39C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02-48D6-B033-9AFAF04CB39C}"/>
              </c:ext>
            </c:extLst>
          </c:dPt>
          <c:dPt>
            <c:idx val="3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302-48D6-B033-9AFAF04CB39C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302-48D6-B033-9AFAF04CB3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0–25</c:v>
                </c:pt>
                <c:pt idx="1">
                  <c:v>26–35</c:v>
                </c:pt>
                <c:pt idx="2">
                  <c:v>36–50</c:v>
                </c:pt>
                <c:pt idx="3">
                  <c:v>51–65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0.55000000000000004</c:v>
                </c:pt>
                <c:pt idx="2">
                  <c:v>0.59</c:v>
                </c:pt>
                <c:pt idx="3">
                  <c:v>0.63</c:v>
                </c:pt>
                <c:pt idx="4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302-48D6-B033-9AFAF04CB3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Fraud Rate: Male vs Female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F2-4602-842E-A4C611C93EA2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F2-4602-842E-A4C611C93EA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F2-4602-842E-A4C611C93EA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F2-4602-842E-A4C611C93EA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0.57299999999999995</c:v>
                </c:pt>
                <c:pt idx="1">
                  <c:v>0.58599999999999997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F2-4602-842E-A4C611C93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Fraud Rate by Transaction Amount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6D-4284-8E08-AFD45C792911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6D-4284-8E08-AFD45C792911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6D-4284-8E08-AFD45C79291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(&lt;$50)</c:v>
                </c:pt>
                <c:pt idx="1">
                  <c:v>Medium ($50–$200)</c:v>
                </c:pt>
                <c:pt idx="2">
                  <c:v>High (&gt;$200)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</c:v>
                </c:pt>
                <c:pt idx="1">
                  <c:v>0.61</c:v>
                </c:pt>
                <c:pt idx="2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6D-4284-8E08-AFD45C7929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Fraud Rate by Merchant Distance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D4-4B90-A676-E4E10C2D0ED1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D4-4B90-A676-E4E10C2D0ED1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D4-4B90-A676-E4E10C2D0ED1}"/>
              </c:ext>
            </c:extLst>
          </c:dPt>
          <c:dPt>
            <c:idx val="3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D4-4B90-A676-E4E10C2D0ED1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D4-4B90-A676-E4E10C2D0E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0–100mi</c:v>
                </c:pt>
                <c:pt idx="1">
                  <c:v>100–500mi</c:v>
                </c:pt>
                <c:pt idx="2">
                  <c:v>500–1000mi</c:v>
                </c:pt>
                <c:pt idx="3">
                  <c:v>1000–2000mi</c:v>
                </c:pt>
                <c:pt idx="4">
                  <c:v>2000+mi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</c:v>
                </c:pt>
                <c:pt idx="1">
                  <c:v>0.55000000000000004</c:v>
                </c:pt>
                <c:pt idx="2">
                  <c:v>0.67</c:v>
                </c:pt>
                <c:pt idx="3">
                  <c:v>0.81</c:v>
                </c:pt>
                <c:pt idx="4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D4-4B90-A676-E4E10C2D0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05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2A4A">
              <a:alpha val="70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"/>
            <a:ext cx="2560320" cy="2560320"/>
          </a:xfrm>
          <a:prstGeom prst="ellipse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</a:rPr>
              <a:t>CONFIDENTIAL  ·  INTERNAL USE ONLY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Behavioral Patterns · Temporal Trends · Demographic Insights · Strategic Recommendations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841248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52044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547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1.29M+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Transactions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352044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547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0.58%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460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Fraud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52044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547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$530K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Est. Fraud Loss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3520440"/>
            <a:ext cx="192024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547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14 Yrs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4096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Analysis Period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Data Science · Risk Analytics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</a:rPr>
              <a:t>TABLE OF CONTENTS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235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Project Overview &amp; Objectives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Dataset, scope and business goals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92808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57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Fraud Landscape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Overall distribution and class imbalance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16936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815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Temporal &amp; Behavioral Patterns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374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Hourly, seasonal and weekend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41064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056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9959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Category &amp; Merchant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3982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Highest fraud rate categories &amp; merchants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8686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68680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332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9235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Demographic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Age group, gender and job exposure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89280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892808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057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19476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Transaction Amount &amp; Distance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Amount buckets, deviation and geo-distance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91693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916936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0815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2971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SQL-Driven Business Intelligence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3374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12 analytical views for production use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94106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941064"/>
            <a:ext cx="502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056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39959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Key Findings &amp; Recommendations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43982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Actionable insights for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01  PROJECT 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BUSINESS OBJECTIVES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3502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Identify patterns that differentiate fraudulent from legitimate transactions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7510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Determine high-risk merchant categories &amp; time windows for targeted monitoring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1518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Profile demographic segments most vulnerable to fraud exposure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5526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Build SQL-ready analytical views deployable in production systems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9534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Deliver actionable recommendations to reduce fraud losses by 20%+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50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DATASET SNAPSHOT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353312"/>
            <a:ext cx="3840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1,296,675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85623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874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Fraud Cases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7,506 (0.58%)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359152"/>
            <a:ext cx="3840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Cardholders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377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983 cc_nums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6207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Features Engineered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7 new columns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364992"/>
            <a:ext cx="3840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Time Span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383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Jan 2019 – Dec 2020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86791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States Covered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</a:rPr>
              <a:t>All 50 US States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02  FRAUD LANDSCAPE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0972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</a:rPr>
              <a:t>1,289,169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Legitimate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99.42%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109728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961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</a:rPr>
              <a:t>7,506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Fraud Transactions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0.58%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20040" y="2468880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5806440" y="2468880"/>
            <a:ext cx="3017520" cy="2377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  KEY INSIGHT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971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The dataset is severely imbalanced — only </a:t>
            </a:r>
            <a:r>
              <a:rPr lang="en-US" sz="1000" b="1" dirty="0">
                <a:solidFill>
                  <a:srgbClr val="DC2626"/>
                </a:solidFill>
              </a:rPr>
              <a:t>0.58% </a:t>
            </a:r>
            <a:r>
              <a:rPr lang="en-US" sz="1000" dirty="0">
                <a:solidFill>
                  <a:srgbClr val="1E293B"/>
                </a:solidFill>
              </a:rPr>
              <a:t>of all transactions are fraudulent.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This means a naive model that predicts "Legit" every time achieves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99.42% accuracy</a:t>
            </a:r>
            <a:r>
              <a:rPr lang="en-US" sz="1000" dirty="0">
                <a:solidFill>
                  <a:srgbClr val="1E293B"/>
                </a:solidFill>
              </a:rPr>
              <a:t> — yet catches zero fraud.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Models must use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precision-recall, AUC-ROC, and F1-score</a:t>
            </a:r>
            <a:r>
              <a:rPr lang="en-US" sz="1000" dirty="0">
                <a:solidFill>
                  <a:srgbClr val="1E293B"/>
                </a:solidFill>
              </a:rPr>
              <a:t> — NOT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03  TEMPORAL &amp; BEHAVIORAL PATTERNS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22960"/>
          <a:ext cx="5486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943600" y="822960"/>
          <a:ext cx="2880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639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🕐  Peak Fraud Hour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Midnight–3AM accounts for highest fraud probability. Fraudsters exploit low-monitoring night windows.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46120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83280" y="3639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📅  Weekend Surge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8328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Weekend fraud rate is 25% higher than weekdays, suggesting weekend transaction monitoring is critical.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72200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09360" y="3639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📈  Seasonal Trend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30936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Fraud spikes in Q4 (Oct–Dec) aligning with holiday shopping — merchants and issuers must heighten alert rules.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04  CATEGORY &amp; MERCHANT RISK PROFILE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777240"/>
            <a:ext cx="3017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777240"/>
            <a:ext cx="3017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804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MERCHANT RISK SUMMARY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70448" y="1243584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2161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Top 10 merchants (&gt;20 txns) have fraud rates exceeding 5%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70448" y="16642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6367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Grocery POS &amp; Online Shopping are the most targeted categories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70448" y="2084832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057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Cards with repeated fraud attempts at same merchant flag systemic abuse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3017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880360"/>
            <a:ext cx="3017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907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CITY SIZE vs FRAUD RATE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Small City (&lt;5K pop)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955280" y="3364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0.72%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Mid City (5K–20K)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955280" y="38404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0.61%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Large City (&gt;20K)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55280" y="43159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0.52%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4498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⚠ Small cities show 38% higher fraud than large cities — counter-intuitive but driven by lower fraud detection infrastructure.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05  DEMOGRAPHIC FRAUD ANALYSIS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229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822960"/>
          <a:ext cx="4251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3832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3383280"/>
            <a:ext cx="8503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410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HIGH-RISK JOB PROFILES  (Top 10 by Cardholder Count)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Material Mover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0.78%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21408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Sales Executive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121408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0.72%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85616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Prof. Driver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785616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0.69%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49824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Researcher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49824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0.66%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14032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Nurse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114032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0.63%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06  TRANSACTION AMOUNT &amp; DISTANCE RISK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229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82296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3832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338328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💰  High-Value = High Risk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3886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Transactions &gt;$200 are 2× more likely to be fraud. Flag outliers using amt_deviation feature.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46120" y="33832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46120" y="338328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📍  Distance as a Signal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83280" y="3886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Transactions 2000+ miles from home carry 96% higher fraud rate than local transactions.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33832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33832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🔁  Repeat Fraud Cards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09360" y="3886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Cards with &gt;1 fraud incident represent systemic compromise — auto-block after 2nd fraud event.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07  SQL-DRIVEN BUSINESS INTELLIGENCE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77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Daily_Fraud_Trend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1208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Tracks daily fraud rate to detect emerging spikes in real time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22960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877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fraud_pattern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01768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Monthly aggregation for seasonal analysis and QBR reporting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68249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82496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737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fraud_merchants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10 highest-risk merchants (filtered to &gt;20 txns)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168249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682496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737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fraud_by_city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01768" y="2048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City-size bucketing to compare small vs. large city 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4203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42032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5968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Same_Card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Cards with multiple fraud events — repeat offender detection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254203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542032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5968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repeat_fraud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01768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First-fraud timestamp and total fraud count per card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4015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01568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High_Value_Fraud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Amount-bucket fraud rates to prioritize high-value alerts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34015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401568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Transaction_Frequency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01768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Top-10 cards by transaction volume — anomaly detection base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26110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61104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State_Category_Combined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" y="4626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State × category cross-tab for regional risk mapping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426110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261104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Weekend_vs_Weekday_Fraud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01768" y="4626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DOW-based fraud rate comparison for scheduling fraud teams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</a:rPr>
              <a:t>08  KEY FINDINGS &amp;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KEY FINDINGS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80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Midnight–3AM is highest fraud risk window (~3.5× daytime avg)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Grocery POS &amp; Online Shopping drive &gt;40% of fraud cases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408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Customers 65+ are 38% more vulnerable than 18–25 age group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71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Transactions &gt;$200 have 2× fraud rate of sub-$50 transactions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01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Distance &gt;2000 miles signals fraud with 94%+ fraud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Small cities have higher fraud rates — monitoring gap exists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50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STRATEGIC RECOMMENDATIONS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316736"/>
            <a:ext cx="4572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167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21808" y="1280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Activate stepped-up authentication for all txns between 12AM–3AM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847088"/>
            <a:ext cx="4572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47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21808" y="18105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Implement real-time spend-deviation alerts using amt_deviation feature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377440"/>
            <a:ext cx="4572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774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21808" y="234086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Auto-flag transactions &gt;2000 miles from customer home location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907792"/>
            <a:ext cx="4572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077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21808" y="28712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Deploy enhanced monitoring on grocery_pos and shopping_net categories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438144"/>
            <a:ext cx="4572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438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21808" y="3401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Offer fraud awareness programs targeted at seniors (65+ segment)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968496"/>
            <a:ext cx="4572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684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21808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Schedule fraud team peak staffing on weekend nights for maximum ROI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884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Risk Analysis</dc:title>
  <dc:subject>PptxGenJS Presentation</dc:subject>
  <dc:creator>PptxGenJS</dc:creator>
  <cp:lastModifiedBy>tausif raza</cp:lastModifiedBy>
  <cp:revision>2</cp:revision>
  <dcterms:created xsi:type="dcterms:W3CDTF">2026-04-29T18:35:29Z</dcterms:created>
  <dcterms:modified xsi:type="dcterms:W3CDTF">2026-04-29T19:00:38Z</dcterms:modified>
</cp:coreProperties>
</file>